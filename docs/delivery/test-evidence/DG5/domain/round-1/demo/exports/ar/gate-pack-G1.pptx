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rtl="1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0"/>
            <a:ext cx="841248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ar-SA" altLang="en-US" sz="700" b="1" dirty="0">
                <a:solidFill>
                  <a:srgbClr val="7A4B00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مثال توضيحي — اصطناعي</a:t>
            </a:r>
            <a:endParaRPr lang="ar-SA" sz="700" dirty="0"/>
          </a:p>
        </p:txBody>
      </p:sp>
      <p:sp>
        <p:nvSpPr>
          <p:cNvPr id="3" name="Text 1"/>
          <p:cNvSpPr/>
          <p:nvPr/>
        </p:nvSpPr>
        <p:spPr>
          <a:xfrm>
            <a:off x="365760" y="137160"/>
            <a:ext cx="8412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ar-SA" altLang="en-US" sz="1200" b="1" dirty="0">
                <a:solidFill>
                  <a:srgbClr val="1A1F36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Mobily Transformation Hub</a:t>
            </a:r>
            <a:endParaRPr lang="ar-SA" sz="1200" dirty="0"/>
          </a:p>
        </p:txBody>
      </p:sp>
      <p:sp>
        <p:nvSpPr>
          <p:cNvPr id="4" name="Text 2"/>
          <p:cNvSpPr/>
          <p:nvPr/>
        </p:nvSpPr>
        <p:spPr>
          <a:xfrm>
            <a:off x="365760" y="411480"/>
            <a:ext cx="8412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ar-SA" altLang="en-US" sz="1800" b="1" dirty="0">
                <a:solidFill>
                  <a:srgbClr val="1A1F36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حزمة البوابة</a:t>
            </a:r>
            <a:endParaRPr lang="ar-SA" sz="1800" dirty="0"/>
          </a:p>
        </p:txBody>
      </p:sp>
      <p:graphicFrame>
        <p:nvGraphicFramePr>
          <p:cNvPr id="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868680"/>
          <a:ext cx="8412480" cy="914400"/>
        </p:xfrm>
        <a:graphic>
          <a:graphicData uri="http://schemas.openxmlformats.org/drawingml/2006/table">
            <a:tbl>
              <a:tblPr/>
              <a:tblGrid>
                <a:gridCol w="5938221"/>
                <a:gridCol w="2474259"/>
              </a:tblGrid>
              <a:tr h="0"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95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Mobily Transformation Hub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95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المنتج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95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حزمة البوابة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95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المخرَج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95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ROAMING — International Roaming Transformation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95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التحول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95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G1 — ROAMING G1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95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الموضوع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95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الفترة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95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2026-10-23 08:48 (Asia/Riyadh)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95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حتى تاريخ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95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01a1674d-ab9a-717a-8d31-2a90254a0bcd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95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معرّف اللقطة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95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مسودة — ليس تقريراً صادراً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95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الإصدار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95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playbook v1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95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إصدار المنهجية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95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معتمد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95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حالة اعتماد المصادر (مسجّلة، وليست اعتماداً)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4572000" y="4796028"/>
            <a:ext cx="4206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ar-SA" altLang="en-US" sz="800" dirty="0">
                <a:solidFill>
                  <a:srgbClr val="5A6275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مسودة — ليس تقريراً صادراً</a:t>
            </a:r>
            <a:endParaRPr lang="ar-SA" sz="800" dirty="0"/>
          </a:p>
        </p:txBody>
      </p:sp>
      <p:sp>
        <p:nvSpPr>
          <p:cNvPr id="7" name="Text 4"/>
          <p:cNvSpPr/>
          <p:nvPr/>
        </p:nvSpPr>
        <p:spPr>
          <a:xfrm>
            <a:off x="365760" y="4796028"/>
            <a:ext cx="4206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l" indent="0" marL="0">
              <a:buNone/>
            </a:pPr>
            <a:r>
              <a:rPr lang="ar-SA" altLang="en-US" sz="800" dirty="0">
                <a:solidFill>
                  <a:srgbClr val="5A6275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الشريحة 1 من 8</a:t>
            </a:r>
            <a:endParaRPr lang="ar-SA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0"/>
            <a:ext cx="841248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ar-SA" altLang="en-US" sz="700" b="1" dirty="0">
                <a:solidFill>
                  <a:srgbClr val="7A4B00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مثال توضيحي — اصطناعي</a:t>
            </a:r>
            <a:endParaRPr lang="ar-SA" sz="700" dirty="0"/>
          </a:p>
        </p:txBody>
      </p:sp>
      <p:sp>
        <p:nvSpPr>
          <p:cNvPr id="3" name="Text 1"/>
          <p:cNvSpPr/>
          <p:nvPr/>
        </p:nvSpPr>
        <p:spPr>
          <a:xfrm>
            <a:off x="365760" y="228600"/>
            <a:ext cx="8412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ar-SA" altLang="en-US" sz="1800" b="1" dirty="0">
                <a:solidFill>
                  <a:srgbClr val="1A1F36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البوابة</a:t>
            </a:r>
            <a:endParaRPr lang="ar-SA" sz="1800" dirty="0"/>
          </a:p>
        </p:txBody>
      </p:sp>
      <p:graphicFrame>
        <p:nvGraphicFramePr>
          <p:cNvPr id="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868680"/>
          <a:ext cx="8412480" cy="914400"/>
        </p:xfrm>
        <a:graphic>
          <a:graphicData uri="http://schemas.openxmlformats.org/drawingml/2006/table">
            <a:tbl>
              <a:tblPr/>
              <a:tblGrid>
                <a:gridCol w="5938221"/>
                <a:gridCol w="2474259"/>
              </a:tblGrid>
              <a:tr h="0"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950" b="1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القيمة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5"/>
                    </a:solidFill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950" b="1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البند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5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95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البوابة G1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  <a:p>
                      <a:pPr rtl="1" algn="r" indent="0" marL="0">
                        <a:buNone/>
                      </a:pPr>
                      <a:r>
                        <a:rPr lang="ar-SA" altLang="en-US" sz="95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لا ينطبق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95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البوابة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95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التشخيص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  <a:p>
                      <a:pPr rtl="1" algn="r" indent="0" marL="0">
                        <a:buNone/>
                      </a:pPr>
                      <a:r>
                        <a:rPr lang="ar-SA" altLang="en-US" sz="95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لا ينطبق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95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المرحلة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95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معتمد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  <a:p>
                      <a:pPr rtl="1" algn="r" indent="0" marL="0">
                        <a:buNone/>
                      </a:pPr>
                      <a:r>
                        <a:rPr lang="ar-SA" altLang="en-US" sz="95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لا ينطبق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95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حالة البوابة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95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معتمد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  <a:p>
                      <a:pPr rtl="1" algn="r" indent="0" marL="0">
                        <a:buNone/>
                      </a:pPr>
                      <a:r>
                        <a:rPr lang="ar-SA" altLang="en-US" sz="95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لا ينطبق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95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حالة الاعتماد (مسجّلة، وليست اعتماداً)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95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الراعي التنفيذي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  <a:p>
                      <a:pPr rtl="1" algn="r" indent="0" marL="0">
                        <a:buNone/>
                      </a:pPr>
                      <a:r>
                        <a:rPr lang="ar-SA" altLang="en-US" sz="95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لا ينطبق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95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دور المعتمِد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95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1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  <a:p>
                      <a:pPr rtl="1" algn="r" indent="0" marL="0">
                        <a:buNone/>
                      </a:pPr>
                      <a:r>
                        <a:rPr lang="ar-SA" altLang="en-US" sz="95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لا ينطبق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95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رقم التقديم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95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2026-05-21T07:00:00.000Z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  <a:p>
                      <a:pPr rtl="1" algn="r" indent="0" marL="0">
                        <a:buNone/>
                      </a:pPr>
                      <a:r>
                        <a:rPr lang="ar-SA" altLang="en-US" sz="95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لا ينطبق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95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قُدِّم في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95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roaming.user.tl (synthetic)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  <a:p>
                      <a:pPr rtl="1" algn="r" indent="0" marL="0">
                        <a:buNone/>
                      </a:pPr>
                      <a:r>
                        <a:rPr lang="ar-SA" altLang="en-US" sz="95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لا ينطبق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95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قدَّمه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4572000" y="4796028"/>
            <a:ext cx="4206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ar-SA" altLang="en-US" sz="800" dirty="0">
                <a:solidFill>
                  <a:srgbClr val="5A6275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مسودة — ليس تقريراً صادراً</a:t>
            </a:r>
            <a:endParaRPr lang="ar-SA" sz="800" dirty="0"/>
          </a:p>
        </p:txBody>
      </p:sp>
      <p:sp>
        <p:nvSpPr>
          <p:cNvPr id="6" name="Text 3"/>
          <p:cNvSpPr/>
          <p:nvPr/>
        </p:nvSpPr>
        <p:spPr>
          <a:xfrm>
            <a:off x="365760" y="4796028"/>
            <a:ext cx="4206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l" indent="0" marL="0">
              <a:buNone/>
            </a:pPr>
            <a:r>
              <a:rPr lang="ar-SA" altLang="en-US" sz="800" dirty="0">
                <a:solidFill>
                  <a:srgbClr val="5A6275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الشريحة 2 من 8</a:t>
            </a:r>
            <a:endParaRPr lang="ar-SA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0"/>
            <a:ext cx="841248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ar-SA" altLang="en-US" sz="700" b="1" dirty="0">
                <a:solidFill>
                  <a:srgbClr val="7A4B00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مثال توضيحي — اصطناعي</a:t>
            </a:r>
            <a:endParaRPr lang="ar-SA" sz="700" dirty="0"/>
          </a:p>
        </p:txBody>
      </p:sp>
      <p:sp>
        <p:nvSpPr>
          <p:cNvPr id="3" name="Text 1"/>
          <p:cNvSpPr/>
          <p:nvPr/>
        </p:nvSpPr>
        <p:spPr>
          <a:xfrm>
            <a:off x="365760" y="228600"/>
            <a:ext cx="8412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ar-SA" altLang="en-US" sz="1800" b="1" dirty="0">
                <a:solidFill>
                  <a:srgbClr val="1A1F36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البوابة (تابع)</a:t>
            </a:r>
            <a:endParaRPr lang="ar-SA" sz="180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868680"/>
          <a:ext cx="8412480" cy="914400"/>
        </p:xfrm>
        <a:graphic>
          <a:graphicData uri="http://schemas.openxmlformats.org/drawingml/2006/table">
            <a:tbl>
              <a:tblPr/>
              <a:tblGrid>
                <a:gridCol w="5938221"/>
                <a:gridCol w="2474259"/>
              </a:tblGrid>
              <a:tr h="0"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950" b="1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القيمة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5"/>
                    </a:solidFill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950" b="1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البند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5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95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Case for Change: diagnostic, baseline, root causes and value pools (synthetic demonstration). Synthetic demonstration - approves nothing real / عرض توضيحي اصطناعي - لا يعتمد أي شيء حقيقي.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  <a:p>
                      <a:pPr rtl="1" algn="r" indent="0" marL="0">
                        <a:buNone/>
                      </a:pPr>
                      <a:r>
                        <a:rPr lang="ar-SA" altLang="en-US" sz="95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لا ينطبق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95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ملاحظة التقديم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95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لا ينطبق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95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تاريخ الاستحقاق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95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b8382f9c0d4d54663c73eff83e1bb1956b87c1dee19f37a6f10883cb748aadd7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  <a:p>
                      <a:pPr rtl="1" algn="r" indent="0" marL="0">
                        <a:buNone/>
                      </a:pPr>
                      <a:r>
                        <a:rPr lang="ar-SA" altLang="en-US" sz="95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لا ينطبق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95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بصمة SHA-256 للقطة التقديم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95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معتمد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  <a:p>
                      <a:pPr rtl="1" algn="r" indent="0" marL="0">
                        <a:buNone/>
                      </a:pPr>
                      <a:r>
                        <a:rPr lang="ar-SA" altLang="en-US" sz="95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لا ينطبق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95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القرار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95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2026-05-22T07:00:00.000Z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  <a:p>
                      <a:pPr rtl="1" algn="r" indent="0" marL="0">
                        <a:buNone/>
                      </a:pPr>
                      <a:r>
                        <a:rPr lang="ar-SA" altLang="en-US" sz="95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لا ينطبق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95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تقرَّر في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95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roaming.user.sp (synthetic)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  <a:p>
                      <a:pPr rtl="1" algn="r" indent="0" marL="0">
                        <a:buNone/>
                      </a:pPr>
                      <a:r>
                        <a:rPr lang="ar-SA" altLang="en-US" sz="95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لا ينطبق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95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قرَّره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95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Synthetic demonstration - approves nothing real / عرض توضيحي اصطناعي - لا يعتمد أي شيء حقيقي. We agree on the problem: roaming value leaks through low activation, high complaints and partner cost pressure; the attach-rate baseline is measured and the value pools are material. Proceed to Define. (Synthetic decision of 2026-05-22.)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  <a:p>
                      <a:pPr rtl="1" algn="r" indent="0" marL="0">
                        <a:buNone/>
                      </a:pPr>
                      <a:r>
                        <a:rPr lang="ar-SA" altLang="en-US" sz="95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لا ينطبق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95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المسوِّغ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4572000" y="4796028"/>
            <a:ext cx="4206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ar-SA" altLang="en-US" sz="800" dirty="0">
                <a:solidFill>
                  <a:srgbClr val="5A6275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مسودة — ليس تقريراً صادراً</a:t>
            </a:r>
            <a:endParaRPr lang="ar-SA" sz="800" dirty="0"/>
          </a:p>
        </p:txBody>
      </p:sp>
      <p:sp>
        <p:nvSpPr>
          <p:cNvPr id="6" name="Text 3"/>
          <p:cNvSpPr/>
          <p:nvPr/>
        </p:nvSpPr>
        <p:spPr>
          <a:xfrm>
            <a:off x="365760" y="4796028"/>
            <a:ext cx="4206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l" indent="0" marL="0">
              <a:buNone/>
            </a:pPr>
            <a:r>
              <a:rPr lang="ar-SA" altLang="en-US" sz="800" dirty="0">
                <a:solidFill>
                  <a:srgbClr val="5A6275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الشريحة 3 من 8</a:t>
            </a:r>
            <a:endParaRPr lang="ar-SA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0"/>
            <a:ext cx="841248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ar-SA" altLang="en-US" sz="700" b="1" dirty="0">
                <a:solidFill>
                  <a:srgbClr val="7A4B00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مثال توضيحي — اصطناعي</a:t>
            </a:r>
            <a:endParaRPr lang="ar-SA" sz="700" dirty="0"/>
          </a:p>
        </p:txBody>
      </p:sp>
      <p:sp>
        <p:nvSpPr>
          <p:cNvPr id="3" name="Text 1"/>
          <p:cNvSpPr/>
          <p:nvPr/>
        </p:nvSpPr>
        <p:spPr>
          <a:xfrm>
            <a:off x="365760" y="228600"/>
            <a:ext cx="8412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ar-SA" altLang="en-US" sz="1800" b="1" dirty="0">
                <a:solidFill>
                  <a:srgbClr val="1A1F36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المعايير</a:t>
            </a:r>
            <a:endParaRPr lang="ar-SA" sz="180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868680"/>
          <a:ext cx="8412480" cy="914400"/>
        </p:xfrm>
        <a:graphic>
          <a:graphicData uri="http://schemas.openxmlformats.org/drawingml/2006/table">
            <a:tbl>
              <a:tblPr/>
              <a:tblGrid>
                <a:gridCol w="1163016"/>
                <a:gridCol w="542741"/>
                <a:gridCol w="348905"/>
                <a:gridCol w="1163016"/>
                <a:gridCol w="348905"/>
                <a:gridCol w="542741"/>
                <a:gridCol w="542741"/>
                <a:gridCol w="542741"/>
                <a:gridCol w="1163016"/>
                <a:gridCol w="1163016"/>
                <a:gridCol w="542741"/>
                <a:gridCol w="348905"/>
              </a:tblGrid>
              <a:tr h="0"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700" b="1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ملاحظة المراجعة</a:t>
                      </a:r>
                      <a:endParaRPr lang="ar-SA" sz="7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5"/>
                    </a:solidFill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700" b="1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توصية المراجعة</a:t>
                      </a:r>
                      <a:endParaRPr lang="ar-SA" sz="7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5"/>
                    </a:solidFill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700" b="1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بنود الأدلة غير المتحقَّق منها</a:t>
                      </a:r>
                      <a:endParaRPr lang="ar-SA" sz="7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5"/>
                    </a:solidFill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700" b="1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الناقص</a:t>
                      </a:r>
                      <a:endParaRPr lang="ar-SA" sz="7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5"/>
                    </a:solidFill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700" b="1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البنود الناقصة</a:t>
                      </a:r>
                      <a:endParaRPr lang="ar-SA" sz="7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5"/>
                    </a:solidFill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700" b="1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الحالة</a:t>
                      </a:r>
                      <a:endParaRPr lang="ar-SA" sz="7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5"/>
                    </a:solidFill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700" b="1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الدليل المتحقَّق منه</a:t>
                      </a:r>
                      <a:endParaRPr lang="ar-SA" sz="7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5"/>
                    </a:solidFill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700" b="1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إلزامي</a:t>
                      </a:r>
                      <a:endParaRPr lang="ar-SA" sz="7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5"/>
                    </a:solidFill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700" b="1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المعيار (بالعربية)</a:t>
                      </a:r>
                      <a:endParaRPr lang="ar-SA" sz="7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5"/>
                    </a:solidFill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700" b="1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المعيار (بالإنجليزية)</a:t>
                      </a:r>
                      <a:endParaRPr lang="ar-SA" sz="7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5"/>
                    </a:solidFill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700" b="1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المعيار</a:t>
                      </a:r>
                      <a:endParaRPr lang="ar-SA" sz="7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5"/>
                    </a:solidFill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700" b="1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الرقم</a:t>
                      </a:r>
                      <a:endParaRPr lang="ar-SA" sz="7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5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7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لا ينطبق</a:t>
                      </a:r>
                      <a:endParaRPr lang="ar-SA" sz="7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7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لا ينطبق</a:t>
                      </a:r>
                      <a:endParaRPr lang="ar-SA" sz="7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7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0</a:t>
                      </a:r>
                      <a:endParaRPr lang="ar-SA" sz="7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  <a:p>
                      <a:pPr rtl="1" algn="r" indent="0" marL="0">
                        <a:buNone/>
                      </a:pPr>
                      <a:r>
                        <a:rPr lang="ar-SA" altLang="en-US" sz="7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لا ينطبق</a:t>
                      </a:r>
                      <a:endParaRPr lang="ar-SA" sz="7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7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لا ينطبق</a:t>
                      </a:r>
                      <a:endParaRPr lang="ar-SA" sz="7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7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0</a:t>
                      </a:r>
                      <a:endParaRPr lang="ar-SA" sz="7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  <a:p>
                      <a:pPr rtl="1" algn="r" indent="0" marL="0">
                        <a:buNone/>
                      </a:pPr>
                      <a:r>
                        <a:rPr lang="ar-SA" altLang="en-US" sz="7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لا ينطبق</a:t>
                      </a:r>
                      <a:endParaRPr lang="ar-SA" sz="7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7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مكتمل</a:t>
                      </a:r>
                      <a:endParaRPr lang="ar-SA" sz="7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  <a:p>
                      <a:pPr rtl="1" algn="r" indent="0" marL="0">
                        <a:buNone/>
                      </a:pPr>
                      <a:r>
                        <a:rPr lang="ar-SA" altLang="en-US" sz="7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لا ينطبق</a:t>
                      </a:r>
                      <a:endParaRPr lang="ar-SA" sz="7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7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يلزم دليل متحقَّق منه</a:t>
                      </a:r>
                      <a:endParaRPr lang="ar-SA" sz="7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  <a:p>
                      <a:pPr rtl="1" algn="r" indent="0" marL="0">
                        <a:buNone/>
                      </a:pPr>
                      <a:r>
                        <a:rPr lang="ar-SA" altLang="en-US" sz="7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لا ينطبق</a:t>
                      </a:r>
                      <a:endParaRPr lang="ar-SA" sz="7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7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إلزامي</a:t>
                      </a:r>
                      <a:endParaRPr lang="ar-SA" sz="7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  <a:p>
                      <a:pPr rtl="1" algn="r" indent="0" marL="0">
                        <a:buNone/>
                      </a:pPr>
                      <a:r>
                        <a:rPr lang="ar-SA" altLang="en-US" sz="7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لا ينطبق</a:t>
                      </a:r>
                      <a:endParaRPr lang="ar-SA" sz="7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7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التشخيص</a:t>
                      </a:r>
                      <a:endParaRPr lang="ar-SA" sz="7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  <a:p>
                      <a:pPr rtl="1" algn="r" indent="0" marL="0">
                        <a:buNone/>
                      </a:pPr>
                      <a:r>
                        <a:rPr lang="ar-SA" altLang="en-US" sz="7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لا ينطبق</a:t>
                      </a:r>
                      <a:endParaRPr lang="ar-SA" sz="7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7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Diagnostic</a:t>
                      </a:r>
                      <a:endParaRPr lang="ar-SA" sz="7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  <a:p>
                      <a:pPr rtl="1" algn="r" indent="0" marL="0">
                        <a:buNone/>
                      </a:pPr>
                      <a:r>
                        <a:rPr lang="ar-SA" altLang="en-US" sz="7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لا ينطبق</a:t>
                      </a:r>
                      <a:endParaRPr lang="ar-SA" sz="7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7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التشخيص</a:t>
                      </a:r>
                      <a:endParaRPr lang="ar-SA" sz="7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  <a:p>
                      <a:pPr rtl="1" algn="r" indent="0" marL="0">
                        <a:buNone/>
                      </a:pPr>
                      <a:r>
                        <a:rPr lang="ar-SA" altLang="en-US" sz="7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لا ينطبق</a:t>
                      </a:r>
                      <a:endParaRPr lang="ar-SA" sz="7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7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1</a:t>
                      </a:r>
                      <a:endParaRPr lang="ar-SA" sz="7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  <a:p>
                      <a:pPr rtl="1" algn="r" indent="0" marL="0">
                        <a:buNone/>
                      </a:pPr>
                      <a:r>
                        <a:rPr lang="ar-SA" altLang="en-US" sz="7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لا ينطبق</a:t>
                      </a:r>
                      <a:endParaRPr lang="ar-SA" sz="7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7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لا ينطبق</a:t>
                      </a:r>
                      <a:endParaRPr lang="ar-SA" sz="7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7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لا ينطبق</a:t>
                      </a:r>
                      <a:endParaRPr lang="ar-SA" sz="7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7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0</a:t>
                      </a:r>
                      <a:endParaRPr lang="ar-SA" sz="7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  <a:p>
                      <a:pPr rtl="1" algn="r" indent="0" marL="0">
                        <a:buNone/>
                      </a:pPr>
                      <a:r>
                        <a:rPr lang="ar-SA" altLang="en-US" sz="7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لا ينطبق</a:t>
                      </a:r>
                      <a:endParaRPr lang="ar-SA" sz="7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7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لا ينطبق</a:t>
                      </a:r>
                      <a:endParaRPr lang="ar-SA" sz="7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7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0</a:t>
                      </a:r>
                      <a:endParaRPr lang="ar-SA" sz="7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  <a:p>
                      <a:pPr rtl="1" algn="r" indent="0" marL="0">
                        <a:buNone/>
                      </a:pPr>
                      <a:r>
                        <a:rPr lang="ar-SA" altLang="en-US" sz="7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لا ينطبق</a:t>
                      </a:r>
                      <a:endParaRPr lang="ar-SA" sz="7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7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مكتمل</a:t>
                      </a:r>
                      <a:endParaRPr lang="ar-SA" sz="7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  <a:p>
                      <a:pPr rtl="1" algn="r" indent="0" marL="0">
                        <a:buNone/>
                      </a:pPr>
                      <a:r>
                        <a:rPr lang="ar-SA" altLang="en-US" sz="7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لا ينطبق</a:t>
                      </a:r>
                      <a:endParaRPr lang="ar-SA" sz="7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7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يلزم دليل متحقَّق منه</a:t>
                      </a:r>
                      <a:endParaRPr lang="ar-SA" sz="7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  <a:p>
                      <a:pPr rtl="1" algn="r" indent="0" marL="0">
                        <a:buNone/>
                      </a:pPr>
                      <a:r>
                        <a:rPr lang="ar-SA" altLang="en-US" sz="7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لا ينطبق</a:t>
                      </a:r>
                      <a:endParaRPr lang="ar-SA" sz="7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7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إلزامي</a:t>
                      </a:r>
                      <a:endParaRPr lang="ar-SA" sz="7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  <a:p>
                      <a:pPr rtl="1" algn="r" indent="0" marL="0">
                        <a:buNone/>
                      </a:pPr>
                      <a:r>
                        <a:rPr lang="ar-SA" altLang="en-US" sz="7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لا ينطبق</a:t>
                      </a:r>
                      <a:endParaRPr lang="ar-SA" sz="7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7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الخط الأساسي</a:t>
                      </a:r>
                      <a:endParaRPr lang="ar-SA" sz="7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  <a:p>
                      <a:pPr rtl="1" algn="r" indent="0" marL="0">
                        <a:buNone/>
                      </a:pPr>
                      <a:r>
                        <a:rPr lang="ar-SA" altLang="en-US" sz="7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لا ينطبق</a:t>
                      </a:r>
                      <a:endParaRPr lang="ar-SA" sz="7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7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Baseline</a:t>
                      </a:r>
                      <a:endParaRPr lang="ar-SA" sz="7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  <a:p>
                      <a:pPr rtl="1" algn="r" indent="0" marL="0">
                        <a:buNone/>
                      </a:pPr>
                      <a:r>
                        <a:rPr lang="ar-SA" altLang="en-US" sz="7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لا ينطبق</a:t>
                      </a:r>
                      <a:endParaRPr lang="ar-SA" sz="7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7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الخط الأساسي</a:t>
                      </a:r>
                      <a:endParaRPr lang="ar-SA" sz="7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  <a:p>
                      <a:pPr rtl="1" algn="r" indent="0" marL="0">
                        <a:buNone/>
                      </a:pPr>
                      <a:r>
                        <a:rPr lang="ar-SA" altLang="en-US" sz="7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لا ينطبق</a:t>
                      </a:r>
                      <a:endParaRPr lang="ar-SA" sz="7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7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2</a:t>
                      </a:r>
                      <a:endParaRPr lang="ar-SA" sz="7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  <a:p>
                      <a:pPr rtl="1" algn="r" indent="0" marL="0">
                        <a:buNone/>
                      </a:pPr>
                      <a:r>
                        <a:rPr lang="ar-SA" altLang="en-US" sz="7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لا ينطبق</a:t>
                      </a:r>
                      <a:endParaRPr lang="ar-SA" sz="7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7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لا ينطبق</a:t>
                      </a:r>
                      <a:endParaRPr lang="ar-SA" sz="7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7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لا ينطبق</a:t>
                      </a:r>
                      <a:endParaRPr lang="ar-SA" sz="7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7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0</a:t>
                      </a:r>
                      <a:endParaRPr lang="ar-SA" sz="7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  <a:p>
                      <a:pPr rtl="1" algn="r" indent="0" marL="0">
                        <a:buNone/>
                      </a:pPr>
                      <a:r>
                        <a:rPr lang="ar-SA" altLang="en-US" sz="7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لا ينطبق</a:t>
                      </a:r>
                      <a:endParaRPr lang="ar-SA" sz="7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7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لا ينطبق</a:t>
                      </a:r>
                      <a:endParaRPr lang="ar-SA" sz="7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7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0</a:t>
                      </a:r>
                      <a:endParaRPr lang="ar-SA" sz="7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  <a:p>
                      <a:pPr rtl="1" algn="r" indent="0" marL="0">
                        <a:buNone/>
                      </a:pPr>
                      <a:r>
                        <a:rPr lang="ar-SA" altLang="en-US" sz="7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لا ينطبق</a:t>
                      </a:r>
                      <a:endParaRPr lang="ar-SA" sz="7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7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مكتمل</a:t>
                      </a:r>
                      <a:endParaRPr lang="ar-SA" sz="7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  <a:p>
                      <a:pPr rtl="1" algn="r" indent="0" marL="0">
                        <a:buNone/>
                      </a:pPr>
                      <a:r>
                        <a:rPr lang="ar-SA" altLang="en-US" sz="7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لا ينطبق</a:t>
                      </a:r>
                      <a:endParaRPr lang="ar-SA" sz="7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7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لا يلزم دليل متحقَّق منه</a:t>
                      </a:r>
                      <a:endParaRPr lang="ar-SA" sz="7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  <a:p>
                      <a:pPr rtl="1" algn="r" indent="0" marL="0">
                        <a:buNone/>
                      </a:pPr>
                      <a:r>
                        <a:rPr lang="ar-SA" altLang="en-US" sz="7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لا ينطبق</a:t>
                      </a:r>
                      <a:endParaRPr lang="ar-SA" sz="7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7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إلزامي</a:t>
                      </a:r>
                      <a:endParaRPr lang="ar-SA" sz="7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  <a:p>
                      <a:pPr rtl="1" algn="r" indent="0" marL="0">
                        <a:buNone/>
                      </a:pPr>
                      <a:r>
                        <a:rPr lang="ar-SA" altLang="en-US" sz="7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لا ينطبق</a:t>
                      </a:r>
                      <a:endParaRPr lang="ar-SA" sz="7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7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الأسباب الجذرية</a:t>
                      </a:r>
                      <a:endParaRPr lang="ar-SA" sz="7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  <a:p>
                      <a:pPr rtl="1" algn="r" indent="0" marL="0">
                        <a:buNone/>
                      </a:pPr>
                      <a:r>
                        <a:rPr lang="ar-SA" altLang="en-US" sz="7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لا ينطبق</a:t>
                      </a:r>
                      <a:endParaRPr lang="ar-SA" sz="7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7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Root causes</a:t>
                      </a:r>
                      <a:endParaRPr lang="ar-SA" sz="7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  <a:p>
                      <a:pPr rtl="1" algn="r" indent="0" marL="0">
                        <a:buNone/>
                      </a:pPr>
                      <a:r>
                        <a:rPr lang="ar-SA" altLang="en-US" sz="7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لا ينطبق</a:t>
                      </a:r>
                      <a:endParaRPr lang="ar-SA" sz="7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7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الأسباب الجذرية</a:t>
                      </a:r>
                      <a:endParaRPr lang="ar-SA" sz="7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  <a:p>
                      <a:pPr rtl="1" algn="r" indent="0" marL="0">
                        <a:buNone/>
                      </a:pPr>
                      <a:r>
                        <a:rPr lang="ar-SA" altLang="en-US" sz="7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لا ينطبق</a:t>
                      </a:r>
                      <a:endParaRPr lang="ar-SA" sz="7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7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3</a:t>
                      </a:r>
                      <a:endParaRPr lang="ar-SA" sz="7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  <a:p>
                      <a:pPr rtl="1" algn="r" indent="0" marL="0">
                        <a:buNone/>
                      </a:pPr>
                      <a:r>
                        <a:rPr lang="ar-SA" altLang="en-US" sz="7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لا ينطبق</a:t>
                      </a:r>
                      <a:endParaRPr lang="ar-SA" sz="7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7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لا ينطبق</a:t>
                      </a:r>
                      <a:endParaRPr lang="ar-SA" sz="7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7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لا ينطبق</a:t>
                      </a:r>
                      <a:endParaRPr lang="ar-SA" sz="7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7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0</a:t>
                      </a:r>
                      <a:endParaRPr lang="ar-SA" sz="7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  <a:p>
                      <a:pPr rtl="1" algn="r" indent="0" marL="0">
                        <a:buNone/>
                      </a:pPr>
                      <a:r>
                        <a:rPr lang="ar-SA" altLang="en-US" sz="7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لا ينطبق</a:t>
                      </a:r>
                      <a:endParaRPr lang="ar-SA" sz="7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7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لا ينطبق</a:t>
                      </a:r>
                      <a:endParaRPr lang="ar-SA" sz="7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7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0</a:t>
                      </a:r>
                      <a:endParaRPr lang="ar-SA" sz="7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  <a:p>
                      <a:pPr rtl="1" algn="r" indent="0" marL="0">
                        <a:buNone/>
                      </a:pPr>
                      <a:r>
                        <a:rPr lang="ar-SA" altLang="en-US" sz="7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لا ينطبق</a:t>
                      </a:r>
                      <a:endParaRPr lang="ar-SA" sz="7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7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مكتمل</a:t>
                      </a:r>
                      <a:endParaRPr lang="ar-SA" sz="7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  <a:p>
                      <a:pPr rtl="1" algn="r" indent="0" marL="0">
                        <a:buNone/>
                      </a:pPr>
                      <a:r>
                        <a:rPr lang="ar-SA" altLang="en-US" sz="7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لا ينطبق</a:t>
                      </a:r>
                      <a:endParaRPr lang="ar-SA" sz="7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7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لا يلزم دليل متحقَّق منه</a:t>
                      </a:r>
                      <a:endParaRPr lang="ar-SA" sz="7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  <a:p>
                      <a:pPr rtl="1" algn="r" indent="0" marL="0">
                        <a:buNone/>
                      </a:pPr>
                      <a:r>
                        <a:rPr lang="ar-SA" altLang="en-US" sz="7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لا ينطبق</a:t>
                      </a:r>
                      <a:endParaRPr lang="ar-SA" sz="7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7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إلزامي</a:t>
                      </a:r>
                      <a:endParaRPr lang="ar-SA" sz="7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  <a:p>
                      <a:pPr rtl="1" algn="r" indent="0" marL="0">
                        <a:buNone/>
                      </a:pPr>
                      <a:r>
                        <a:rPr lang="ar-SA" altLang="en-US" sz="7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لا ينطبق</a:t>
                      </a:r>
                      <a:endParaRPr lang="ar-SA" sz="7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7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مجمّعات القيمة</a:t>
                      </a:r>
                      <a:endParaRPr lang="ar-SA" sz="7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  <a:p>
                      <a:pPr rtl="1" algn="r" indent="0" marL="0">
                        <a:buNone/>
                      </a:pPr>
                      <a:r>
                        <a:rPr lang="ar-SA" altLang="en-US" sz="7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لا ينطبق</a:t>
                      </a:r>
                      <a:endParaRPr lang="ar-SA" sz="7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7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Value pools</a:t>
                      </a:r>
                      <a:endParaRPr lang="ar-SA" sz="7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  <a:p>
                      <a:pPr rtl="1" algn="r" indent="0" marL="0">
                        <a:buNone/>
                      </a:pPr>
                      <a:r>
                        <a:rPr lang="ar-SA" altLang="en-US" sz="7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لا ينطبق</a:t>
                      </a:r>
                      <a:endParaRPr lang="ar-SA" sz="7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7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مجمّعات القيمة</a:t>
                      </a:r>
                      <a:endParaRPr lang="ar-SA" sz="7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  <a:p>
                      <a:pPr rtl="1" algn="r" indent="0" marL="0">
                        <a:buNone/>
                      </a:pPr>
                      <a:r>
                        <a:rPr lang="ar-SA" altLang="en-US" sz="7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لا ينطبق</a:t>
                      </a:r>
                      <a:endParaRPr lang="ar-SA" sz="7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7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4</a:t>
                      </a:r>
                      <a:endParaRPr lang="ar-SA" sz="7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  <a:p>
                      <a:pPr rtl="1" algn="r" indent="0" marL="0">
                        <a:buNone/>
                      </a:pPr>
                      <a:r>
                        <a:rPr lang="ar-SA" altLang="en-US" sz="7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لا ينطبق</a:t>
                      </a:r>
                      <a:endParaRPr lang="ar-SA" sz="7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7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لا ينطبق</a:t>
                      </a:r>
                      <a:endParaRPr lang="ar-SA" sz="7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7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لا ينطبق</a:t>
                      </a:r>
                      <a:endParaRPr lang="ar-SA" sz="7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7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0</a:t>
                      </a:r>
                      <a:endParaRPr lang="ar-SA" sz="7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  <a:p>
                      <a:pPr rtl="1" algn="r" indent="0" marL="0">
                        <a:buNone/>
                      </a:pPr>
                      <a:r>
                        <a:rPr lang="ar-SA" altLang="en-US" sz="7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لا ينطبق</a:t>
                      </a:r>
                      <a:endParaRPr lang="ar-SA" sz="7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7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لا ينطبق</a:t>
                      </a:r>
                      <a:endParaRPr lang="ar-SA" sz="7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7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0</a:t>
                      </a:r>
                      <a:endParaRPr lang="ar-SA" sz="7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  <a:p>
                      <a:pPr rtl="1" algn="r" indent="0" marL="0">
                        <a:buNone/>
                      </a:pPr>
                      <a:r>
                        <a:rPr lang="ar-SA" altLang="en-US" sz="7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لا ينطبق</a:t>
                      </a:r>
                      <a:endParaRPr lang="ar-SA" sz="7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7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مكتمل</a:t>
                      </a:r>
                      <a:endParaRPr lang="ar-SA" sz="7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  <a:p>
                      <a:pPr rtl="1" algn="r" indent="0" marL="0">
                        <a:buNone/>
                      </a:pPr>
                      <a:r>
                        <a:rPr lang="ar-SA" altLang="en-US" sz="7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لا ينطبق</a:t>
                      </a:r>
                      <a:endParaRPr lang="ar-SA" sz="7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7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لا يلزم دليل متحقَّق منه</a:t>
                      </a:r>
                      <a:endParaRPr lang="ar-SA" sz="7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  <a:p>
                      <a:pPr rtl="1" algn="r" indent="0" marL="0">
                        <a:buNone/>
                      </a:pPr>
                      <a:r>
                        <a:rPr lang="ar-SA" altLang="en-US" sz="7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لا ينطبق</a:t>
                      </a:r>
                      <a:endParaRPr lang="ar-SA" sz="7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7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إلزامي</a:t>
                      </a:r>
                      <a:endParaRPr lang="ar-SA" sz="7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  <a:p>
                      <a:pPr rtl="1" algn="r" indent="0" marL="0">
                        <a:buNone/>
                      </a:pPr>
                      <a:r>
                        <a:rPr lang="ar-SA" altLang="en-US" sz="7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لا ينطبق</a:t>
                      </a:r>
                      <a:endParaRPr lang="ar-SA" sz="7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7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مبررات التغيير</a:t>
                      </a:r>
                      <a:endParaRPr lang="ar-SA" sz="7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  <a:p>
                      <a:pPr rtl="1" algn="r" indent="0" marL="0">
                        <a:buNone/>
                      </a:pPr>
                      <a:r>
                        <a:rPr lang="ar-SA" altLang="en-US" sz="7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لا ينطبق</a:t>
                      </a:r>
                      <a:endParaRPr lang="ar-SA" sz="7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7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Case for change</a:t>
                      </a:r>
                      <a:endParaRPr lang="ar-SA" sz="7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  <a:p>
                      <a:pPr rtl="1" algn="r" indent="0" marL="0">
                        <a:buNone/>
                      </a:pPr>
                      <a:r>
                        <a:rPr lang="ar-SA" altLang="en-US" sz="7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لا ينطبق</a:t>
                      </a:r>
                      <a:endParaRPr lang="ar-SA" sz="7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7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مبررات التغيير</a:t>
                      </a:r>
                      <a:endParaRPr lang="ar-SA" sz="7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  <a:p>
                      <a:pPr rtl="1" algn="r" indent="0" marL="0">
                        <a:buNone/>
                      </a:pPr>
                      <a:r>
                        <a:rPr lang="ar-SA" altLang="en-US" sz="7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لا ينطبق</a:t>
                      </a:r>
                      <a:endParaRPr lang="ar-SA" sz="7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7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5</a:t>
                      </a:r>
                      <a:endParaRPr lang="ar-SA" sz="7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  <a:p>
                      <a:pPr rtl="1" algn="r" indent="0" marL="0">
                        <a:buNone/>
                      </a:pPr>
                      <a:r>
                        <a:rPr lang="ar-SA" altLang="en-US" sz="7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لا ينطبق</a:t>
                      </a:r>
                      <a:endParaRPr lang="ar-SA" sz="7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4572000" y="4796028"/>
            <a:ext cx="4206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ar-SA" altLang="en-US" sz="800" dirty="0">
                <a:solidFill>
                  <a:srgbClr val="5A6275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مسودة — ليس تقريراً صادراً</a:t>
            </a:r>
            <a:endParaRPr lang="ar-SA" sz="800" dirty="0"/>
          </a:p>
        </p:txBody>
      </p:sp>
      <p:sp>
        <p:nvSpPr>
          <p:cNvPr id="6" name="Text 3"/>
          <p:cNvSpPr/>
          <p:nvPr/>
        </p:nvSpPr>
        <p:spPr>
          <a:xfrm>
            <a:off x="365760" y="4796028"/>
            <a:ext cx="4206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l" indent="0" marL="0">
              <a:buNone/>
            </a:pPr>
            <a:r>
              <a:rPr lang="ar-SA" altLang="en-US" sz="800" dirty="0">
                <a:solidFill>
                  <a:srgbClr val="5A6275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الشريحة 4 من 8</a:t>
            </a:r>
            <a:endParaRPr lang="ar-SA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0"/>
            <a:ext cx="841248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ar-SA" altLang="en-US" sz="700" b="1" dirty="0">
                <a:solidFill>
                  <a:srgbClr val="7A4B00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مثال توضيحي — اصطناعي</a:t>
            </a:r>
            <a:endParaRPr lang="ar-SA" sz="700" dirty="0"/>
          </a:p>
        </p:txBody>
      </p:sp>
      <p:sp>
        <p:nvSpPr>
          <p:cNvPr id="3" name="Text 1"/>
          <p:cNvSpPr/>
          <p:nvPr/>
        </p:nvSpPr>
        <p:spPr>
          <a:xfrm>
            <a:off x="365760" y="228600"/>
            <a:ext cx="8412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ar-SA" altLang="en-US" sz="1800" b="1" dirty="0">
                <a:solidFill>
                  <a:srgbClr val="1A1F36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المعايير (تابع)</a:t>
            </a:r>
            <a:endParaRPr lang="ar-SA" sz="18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868680"/>
          <a:ext cx="8412480" cy="914400"/>
        </p:xfrm>
        <a:graphic>
          <a:graphicData uri="http://schemas.openxmlformats.org/drawingml/2006/table">
            <a:tbl>
              <a:tblPr/>
              <a:tblGrid>
                <a:gridCol w="1163016"/>
                <a:gridCol w="542741"/>
                <a:gridCol w="348905"/>
                <a:gridCol w="1163016"/>
                <a:gridCol w="348905"/>
                <a:gridCol w="542741"/>
                <a:gridCol w="542741"/>
                <a:gridCol w="542741"/>
                <a:gridCol w="1163016"/>
                <a:gridCol w="1163016"/>
                <a:gridCol w="542741"/>
                <a:gridCol w="348905"/>
              </a:tblGrid>
              <a:tr h="0"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700" b="1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ملاحظة المراجعة</a:t>
                      </a:r>
                      <a:endParaRPr lang="ar-SA" sz="7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5"/>
                    </a:solidFill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700" b="1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توصية المراجعة</a:t>
                      </a:r>
                      <a:endParaRPr lang="ar-SA" sz="7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5"/>
                    </a:solidFill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700" b="1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بنود الأدلة غير المتحقَّق منها</a:t>
                      </a:r>
                      <a:endParaRPr lang="ar-SA" sz="7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5"/>
                    </a:solidFill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700" b="1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الناقص</a:t>
                      </a:r>
                      <a:endParaRPr lang="ar-SA" sz="7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5"/>
                    </a:solidFill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700" b="1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البنود الناقصة</a:t>
                      </a:r>
                      <a:endParaRPr lang="ar-SA" sz="7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5"/>
                    </a:solidFill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700" b="1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الحالة</a:t>
                      </a:r>
                      <a:endParaRPr lang="ar-SA" sz="7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5"/>
                    </a:solidFill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700" b="1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الدليل المتحقَّق منه</a:t>
                      </a:r>
                      <a:endParaRPr lang="ar-SA" sz="7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5"/>
                    </a:solidFill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700" b="1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إلزامي</a:t>
                      </a:r>
                      <a:endParaRPr lang="ar-SA" sz="7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5"/>
                    </a:solidFill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700" b="1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المعيار (بالعربية)</a:t>
                      </a:r>
                      <a:endParaRPr lang="ar-SA" sz="7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5"/>
                    </a:solidFill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700" b="1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المعيار (بالإنجليزية)</a:t>
                      </a:r>
                      <a:endParaRPr lang="ar-SA" sz="7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5"/>
                    </a:solidFill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700" b="1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المعيار</a:t>
                      </a:r>
                      <a:endParaRPr lang="ar-SA" sz="7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5"/>
                    </a:solidFill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700" b="1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الرقم</a:t>
                      </a:r>
                      <a:endParaRPr lang="ar-SA" sz="7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5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7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لا ينطبق</a:t>
                      </a:r>
                      <a:endParaRPr lang="ar-SA" sz="7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7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لا ينطبق</a:t>
                      </a:r>
                      <a:endParaRPr lang="ar-SA" sz="7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7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0</a:t>
                      </a:r>
                      <a:endParaRPr lang="ar-SA" sz="7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  <a:p>
                      <a:pPr rtl="1" algn="r" indent="0" marL="0">
                        <a:buNone/>
                      </a:pPr>
                      <a:r>
                        <a:rPr lang="ar-SA" altLang="en-US" sz="7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لا ينطبق</a:t>
                      </a:r>
                      <a:endParaRPr lang="ar-SA" sz="7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7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لا ينطبق</a:t>
                      </a:r>
                      <a:endParaRPr lang="ar-SA" sz="7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7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0</a:t>
                      </a:r>
                      <a:endParaRPr lang="ar-SA" sz="7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  <a:p>
                      <a:pPr rtl="1" algn="r" indent="0" marL="0">
                        <a:buNone/>
                      </a:pPr>
                      <a:r>
                        <a:rPr lang="ar-SA" altLang="en-US" sz="7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لا ينطبق</a:t>
                      </a:r>
                      <a:endParaRPr lang="ar-SA" sz="7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7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مكتمل</a:t>
                      </a:r>
                      <a:endParaRPr lang="ar-SA" sz="7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  <a:p>
                      <a:pPr rtl="1" algn="r" indent="0" marL="0">
                        <a:buNone/>
                      </a:pPr>
                      <a:r>
                        <a:rPr lang="ar-SA" altLang="en-US" sz="7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لا ينطبق</a:t>
                      </a:r>
                      <a:endParaRPr lang="ar-SA" sz="7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7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لا يلزم دليل متحقَّق منه</a:t>
                      </a:r>
                      <a:endParaRPr lang="ar-SA" sz="7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  <a:p>
                      <a:pPr rtl="1" algn="r" indent="0" marL="0">
                        <a:buNone/>
                      </a:pPr>
                      <a:r>
                        <a:rPr lang="ar-SA" altLang="en-US" sz="7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لا ينطبق</a:t>
                      </a:r>
                      <a:endParaRPr lang="ar-SA" sz="7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7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إلزامي</a:t>
                      </a:r>
                      <a:endParaRPr lang="ar-SA" sz="7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  <a:p>
                      <a:pPr rtl="1" algn="r" indent="0" marL="0">
                        <a:buNone/>
                      </a:pPr>
                      <a:r>
                        <a:rPr lang="ar-SA" altLang="en-US" sz="7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لا ينطبق</a:t>
                      </a:r>
                      <a:endParaRPr lang="ar-SA" sz="7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7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الميثاق الأولي</a:t>
                      </a:r>
                      <a:endParaRPr lang="ar-SA" sz="7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  <a:p>
                      <a:pPr rtl="1" algn="r" indent="0" marL="0">
                        <a:buNone/>
                      </a:pPr>
                      <a:r>
                        <a:rPr lang="ar-SA" altLang="en-US" sz="7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لا ينطبق</a:t>
                      </a:r>
                      <a:endParaRPr lang="ar-SA" sz="7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7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Initial charter</a:t>
                      </a:r>
                      <a:endParaRPr lang="ar-SA" sz="7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  <a:p>
                      <a:pPr rtl="1" algn="r" indent="0" marL="0">
                        <a:buNone/>
                      </a:pPr>
                      <a:r>
                        <a:rPr lang="ar-SA" altLang="en-US" sz="7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لا ينطبق</a:t>
                      </a:r>
                      <a:endParaRPr lang="ar-SA" sz="7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7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الميثاق الأولي</a:t>
                      </a:r>
                      <a:endParaRPr lang="ar-SA" sz="7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  <a:p>
                      <a:pPr rtl="1" algn="r" indent="0" marL="0">
                        <a:buNone/>
                      </a:pPr>
                      <a:r>
                        <a:rPr lang="ar-SA" altLang="en-US" sz="7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لا ينطبق</a:t>
                      </a:r>
                      <a:endParaRPr lang="ar-SA" sz="7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7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6</a:t>
                      </a:r>
                      <a:endParaRPr lang="ar-SA" sz="7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  <a:p>
                      <a:pPr rtl="1" algn="r" indent="0" marL="0">
                        <a:buNone/>
                      </a:pPr>
                      <a:r>
                        <a:rPr lang="ar-SA" altLang="en-US" sz="7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لا ينطبق</a:t>
                      </a:r>
                      <a:endParaRPr lang="ar-SA" sz="7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4572000" y="4796028"/>
            <a:ext cx="4206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ar-SA" altLang="en-US" sz="800" dirty="0">
                <a:solidFill>
                  <a:srgbClr val="5A6275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مسودة — ليس تقريراً صادراً</a:t>
            </a:r>
            <a:endParaRPr lang="ar-SA" sz="800" dirty="0"/>
          </a:p>
        </p:txBody>
      </p:sp>
      <p:sp>
        <p:nvSpPr>
          <p:cNvPr id="6" name="Text 3"/>
          <p:cNvSpPr/>
          <p:nvPr/>
        </p:nvSpPr>
        <p:spPr>
          <a:xfrm>
            <a:off x="365760" y="4796028"/>
            <a:ext cx="4206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l" indent="0" marL="0">
              <a:buNone/>
            </a:pPr>
            <a:r>
              <a:rPr lang="ar-SA" altLang="en-US" sz="800" dirty="0">
                <a:solidFill>
                  <a:srgbClr val="5A6275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الشريحة 5 من 8</a:t>
            </a:r>
            <a:endParaRPr lang="ar-SA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0"/>
            <a:ext cx="841248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ar-SA" altLang="en-US" sz="700" b="1" dirty="0">
                <a:solidFill>
                  <a:srgbClr val="7A4B00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مثال توضيحي — اصطناعي</a:t>
            </a:r>
            <a:endParaRPr lang="ar-SA" sz="700" dirty="0"/>
          </a:p>
        </p:txBody>
      </p:sp>
      <p:sp>
        <p:nvSpPr>
          <p:cNvPr id="3" name="Text 1"/>
          <p:cNvSpPr/>
          <p:nvPr/>
        </p:nvSpPr>
        <p:spPr>
          <a:xfrm>
            <a:off x="365760" y="228600"/>
            <a:ext cx="8412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ar-SA" altLang="en-US" sz="1800" b="1" dirty="0">
                <a:solidFill>
                  <a:srgbClr val="1A1F36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الأدلة</a:t>
            </a:r>
            <a:endParaRPr lang="ar-SA" sz="18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868680"/>
          <a:ext cx="8412480" cy="914400"/>
        </p:xfrm>
        <a:graphic>
          <a:graphicData uri="http://schemas.openxmlformats.org/drawingml/2006/table">
            <a:tbl>
              <a:tblPr/>
              <a:tblGrid>
                <a:gridCol w="2018995"/>
                <a:gridCol w="605699"/>
                <a:gridCol w="942198"/>
                <a:gridCol w="942198"/>
                <a:gridCol w="942198"/>
                <a:gridCol w="942198"/>
                <a:gridCol w="2018995"/>
              </a:tblGrid>
              <a:tr h="0"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800" b="1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بصمة SHA-256</a:t>
                      </a:r>
                      <a:endParaRPr lang="ar-SA" sz="8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5"/>
                    </a:solidFill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800" b="1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مراجعة المحتوى</a:t>
                      </a:r>
                      <a:endParaRPr lang="ar-SA" sz="8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5"/>
                    </a:solidFill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800" b="1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حالة المراجعة</a:t>
                      </a:r>
                      <a:endParaRPr lang="ar-SA" sz="8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5"/>
                    </a:solidFill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800" b="1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عند التقديم</a:t>
                      </a:r>
                      <a:endParaRPr lang="ar-SA" sz="8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5"/>
                    </a:solidFill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800" b="1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يدعم</a:t>
                      </a:r>
                      <a:endParaRPr lang="ar-SA" sz="8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5"/>
                    </a:solidFill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800" b="1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النوع</a:t>
                      </a:r>
                      <a:endParaRPr lang="ar-SA" sz="8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5"/>
                    </a:solidFill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800" b="1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البوابة</a:t>
                      </a:r>
                      <a:endParaRPr lang="ar-SA" sz="8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5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8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لا ينطبق</a:t>
                      </a:r>
                      <a:endParaRPr lang="ar-SA" sz="8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8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لا ينطبق</a:t>
                      </a:r>
                      <a:endParaRPr lang="ar-SA" sz="8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8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متحقَّق منه</a:t>
                      </a:r>
                      <a:endParaRPr lang="ar-SA" sz="8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  <a:p>
                      <a:pPr rtl="1" algn="r" indent="0" marL="0">
                        <a:buNone/>
                      </a:pPr>
                      <a:r>
                        <a:rPr lang="ar-SA" altLang="en-US" sz="8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لا ينطبق</a:t>
                      </a:r>
                      <a:endParaRPr lang="ar-SA" sz="8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8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متحقَّق منه عند التقديم</a:t>
                      </a:r>
                      <a:endParaRPr lang="ar-SA" sz="8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  <a:p>
                      <a:pPr rtl="1" algn="r" indent="0" marL="0">
                        <a:buNone/>
                      </a:pPr>
                      <a:r>
                        <a:rPr lang="ar-SA" altLang="en-US" sz="8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لا ينطبق</a:t>
                      </a:r>
                      <a:endParaRPr lang="ar-SA" sz="8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8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بند تشخيص</a:t>
                      </a:r>
                      <a:endParaRPr lang="ar-SA" sz="8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  <a:p>
                      <a:pPr rtl="1" algn="r" indent="0" marL="0">
                        <a:buNone/>
                      </a:pPr>
                      <a:r>
                        <a:rPr lang="ar-SA" altLang="en-US" sz="8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لا ينطبق</a:t>
                      </a:r>
                      <a:endParaRPr lang="ar-SA" sz="8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8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ملاحظة</a:t>
                      </a:r>
                      <a:endParaRPr lang="ar-SA" sz="8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  <a:p>
                      <a:pPr rtl="1" algn="r" indent="0" marL="0">
                        <a:buNone/>
                      </a:pPr>
                      <a:r>
                        <a:rPr lang="ar-SA" altLang="en-US" sz="8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لا ينطبق</a:t>
                      </a:r>
                      <a:endParaRPr lang="ar-SA" sz="8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8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Roaming diagnostic pack, May 2026 (synthetic)</a:t>
                      </a:r>
                      <a:endParaRPr lang="ar-SA" sz="8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  <a:p>
                      <a:pPr rtl="1" algn="r" indent="0" marL="0">
                        <a:buNone/>
                      </a:pPr>
                      <a:r>
                        <a:rPr lang="ar-SA" altLang="en-US" sz="8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لا ينطبق</a:t>
                      </a:r>
                      <a:endParaRPr lang="ar-SA" sz="8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4572000" y="4796028"/>
            <a:ext cx="4206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ar-SA" altLang="en-US" sz="800" dirty="0">
                <a:solidFill>
                  <a:srgbClr val="5A6275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مسودة — ليس تقريراً صادراً</a:t>
            </a:r>
            <a:endParaRPr lang="ar-SA" sz="800" dirty="0"/>
          </a:p>
        </p:txBody>
      </p:sp>
      <p:sp>
        <p:nvSpPr>
          <p:cNvPr id="6" name="Text 3"/>
          <p:cNvSpPr/>
          <p:nvPr/>
        </p:nvSpPr>
        <p:spPr>
          <a:xfrm>
            <a:off x="365760" y="4796028"/>
            <a:ext cx="4206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l" indent="0" marL="0">
              <a:buNone/>
            </a:pPr>
            <a:r>
              <a:rPr lang="ar-SA" altLang="en-US" sz="800" dirty="0">
                <a:solidFill>
                  <a:srgbClr val="5A6275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الشريحة 6 من 8</a:t>
            </a:r>
            <a:endParaRPr lang="ar-SA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0"/>
            <a:ext cx="841248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ar-SA" altLang="en-US" sz="700" b="1" dirty="0">
                <a:solidFill>
                  <a:srgbClr val="7A4B00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مثال توضيحي — اصطناعي</a:t>
            </a:r>
            <a:endParaRPr lang="ar-SA" sz="700" dirty="0"/>
          </a:p>
        </p:txBody>
      </p:sp>
      <p:sp>
        <p:nvSpPr>
          <p:cNvPr id="3" name="Text 1"/>
          <p:cNvSpPr/>
          <p:nvPr/>
        </p:nvSpPr>
        <p:spPr>
          <a:xfrm>
            <a:off x="365760" y="228600"/>
            <a:ext cx="8412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ar-SA" altLang="en-US" sz="1800" b="1" dirty="0">
                <a:solidFill>
                  <a:srgbClr val="1A1F36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تسميات التحقق</a:t>
            </a:r>
            <a:endParaRPr lang="ar-SA" sz="18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868680"/>
          <a:ext cx="8412480" cy="914400"/>
        </p:xfrm>
        <a:graphic>
          <a:graphicData uri="http://schemas.openxmlformats.org/drawingml/2006/table">
            <a:tbl>
              <a:tblPr/>
              <a:tblGrid>
                <a:gridCol w="5938221"/>
                <a:gridCol w="2474259"/>
              </a:tblGrid>
              <a:tr h="0"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95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القيمة متحقَّق منها من الجهة المالكة.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95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متحقَّق منه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95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القيمة مؤقتة: بانتظار التحقق أو الاعتماد؛ تُعرض وتُحتسب.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95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مؤقت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95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لا تتوفر قيمة؛ تبقى الخلية فارغة ولا تُعرض صفراً أبداً.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95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غير معروف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95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القيمة غير محدَّثة؛ لا يُعرض رقم حالي.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95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قديم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95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القيمة لا تنطبق على هذا السجل.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95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لا ينطبق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95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الإجماليات المكتوبة كصيغ يحسبها الجدول من الصفوف أعلاه؛ النص لا يصبح صيغة أبداً.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4572000" y="4796028"/>
            <a:ext cx="4206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ar-SA" altLang="en-US" sz="800" dirty="0">
                <a:solidFill>
                  <a:srgbClr val="5A6275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مسودة — ليس تقريراً صادراً</a:t>
            </a:r>
            <a:endParaRPr lang="ar-SA" sz="800" dirty="0"/>
          </a:p>
        </p:txBody>
      </p:sp>
      <p:sp>
        <p:nvSpPr>
          <p:cNvPr id="6" name="Text 3"/>
          <p:cNvSpPr/>
          <p:nvPr/>
        </p:nvSpPr>
        <p:spPr>
          <a:xfrm>
            <a:off x="365760" y="4796028"/>
            <a:ext cx="4206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l" indent="0" marL="0">
              <a:buNone/>
            </a:pPr>
            <a:r>
              <a:rPr lang="ar-SA" altLang="en-US" sz="800" dirty="0">
                <a:solidFill>
                  <a:srgbClr val="5A6275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الشريحة 7 من 8</a:t>
            </a:r>
            <a:endParaRPr lang="ar-SA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0"/>
            <a:ext cx="841248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ar-SA" altLang="en-US" sz="700" b="1" dirty="0">
                <a:solidFill>
                  <a:srgbClr val="7A4B00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مثال توضيحي — اصطناعي</a:t>
            </a:r>
            <a:endParaRPr lang="ar-SA" sz="700" dirty="0"/>
          </a:p>
        </p:txBody>
      </p:sp>
      <p:sp>
        <p:nvSpPr>
          <p:cNvPr id="3" name="Text 1"/>
          <p:cNvSpPr/>
          <p:nvPr/>
        </p:nvSpPr>
        <p:spPr>
          <a:xfrm>
            <a:off x="365760" y="228600"/>
            <a:ext cx="8412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ar-SA" altLang="en-US" sz="1800" b="1" dirty="0">
                <a:solidFill>
                  <a:srgbClr val="1A1F36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حول هذا الملف</a:t>
            </a:r>
            <a:endParaRPr lang="ar-SA" sz="1800" dirty="0"/>
          </a:p>
        </p:txBody>
      </p:sp>
      <p:sp>
        <p:nvSpPr>
          <p:cNvPr id="4" name="Text 2"/>
          <p:cNvSpPr/>
          <p:nvPr/>
        </p:nvSpPr>
        <p:spPr>
          <a:xfrm>
            <a:off x="365760" y="868680"/>
            <a:ext cx="8412480" cy="4546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rtl="1" algn="r" indent="0" marL="0">
              <a:buNone/>
            </a:pPr>
            <a:r>
              <a:rPr lang="ar-SA" altLang="en-US" sz="1100" dirty="0">
                <a:solidFill>
                  <a:srgbClr val="1A1F36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الخطوط: يسمّي هذا العرض خطَّي IBM Plex Sans Arabic وIBM Plex Sans (رخصة SIL Open Font License 1.1) دون تضمينهما؛ يعرض البرنامج الذي لا يتوفر فيه الخطّان خطاً بديلاً.</a:t>
            </a:r>
            <a:endParaRPr lang="ar-SA" sz="1100" dirty="0"/>
          </a:p>
        </p:txBody>
      </p:sp>
      <p:sp>
        <p:nvSpPr>
          <p:cNvPr id="5" name="Text 3"/>
          <p:cNvSpPr/>
          <p:nvPr/>
        </p:nvSpPr>
        <p:spPr>
          <a:xfrm>
            <a:off x="365760" y="1369060"/>
            <a:ext cx="8412480" cy="4546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rtl="1" algn="r" indent="0" marL="0">
              <a:buNone/>
            </a:pPr>
            <a:r>
              <a:rPr lang="ar-SA" altLang="en-US" sz="1100" dirty="0">
                <a:solidFill>
                  <a:srgbClr val="1A1F36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توليفة عملية مستوحاة من سلسلة PMI للتحول المؤسسي وبوصلة برايتلاين للتحول وإدارة تحقيق المنافع من PMI؛ ومُوسَّعة بمجموعة أدوات مخصصة لنموذج التشغيل المستهدف.</a:t>
            </a:r>
            <a:endParaRPr lang="ar-SA" sz="1100" dirty="0"/>
          </a:p>
        </p:txBody>
      </p:sp>
      <p:sp>
        <p:nvSpPr>
          <p:cNvPr id="6" name="Text 4"/>
          <p:cNvSpPr/>
          <p:nvPr/>
        </p:nvSpPr>
        <p:spPr>
          <a:xfrm>
            <a:off x="4572000" y="4796028"/>
            <a:ext cx="4206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ar-SA" altLang="en-US" sz="800" dirty="0">
                <a:solidFill>
                  <a:srgbClr val="5A6275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مسودة — ليس تقريراً صادراً</a:t>
            </a:r>
            <a:endParaRPr lang="ar-SA" sz="800" dirty="0"/>
          </a:p>
        </p:txBody>
      </p:sp>
      <p:sp>
        <p:nvSpPr>
          <p:cNvPr id="7" name="Text 5"/>
          <p:cNvSpPr/>
          <p:nvPr/>
        </p:nvSpPr>
        <p:spPr>
          <a:xfrm>
            <a:off x="365760" y="4796028"/>
            <a:ext cx="4206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l" indent="0" marL="0">
              <a:buNone/>
            </a:pPr>
            <a:r>
              <a:rPr lang="ar-SA" altLang="en-US" sz="800" dirty="0">
                <a:solidFill>
                  <a:srgbClr val="5A6275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الشريحة 8 من 8</a:t>
            </a:r>
            <a:endParaRPr lang="ar-SA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Mobily Transformation Hub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حزمة البوابة — ROAMING</dc:title>
  <dc:subject>ROAMING — International Roaming Transformation; snapshot 01a1674d-ab9a-717a-8d31-2a90254a0bcd</dc:subject>
  <dc:creator>Mobily Transformation Hub</dc:creator>
  <cp:lastModifiedBy>Mobily Transformation Hub</cp:lastModifiedBy>
  <cp:revision>1</cp:revision>
  <dcterms:created xsi:type="dcterms:W3CDTF">2026-10-23T05:48:27Z</dcterms:created>
  <dcterms:modified xsi:type="dcterms:W3CDTF">2026-10-23T05:48:27Z</dcterms:modified>
</cp:coreProperties>
</file>