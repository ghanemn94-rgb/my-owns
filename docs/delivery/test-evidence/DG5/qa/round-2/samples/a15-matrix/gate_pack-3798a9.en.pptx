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3716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2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Mobily Transformation Hub</a:t>
            </a:r>
            <a:endParaRPr lang="en-GB" sz="1200" dirty="0"/>
          </a:p>
        </p:txBody>
      </p:sp>
      <p:sp>
        <p:nvSpPr>
          <p:cNvPr id="3" name="Text 1"/>
          <p:cNvSpPr/>
          <p:nvPr/>
        </p:nvSpPr>
        <p:spPr>
          <a:xfrm>
            <a:off x="365760" y="41148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pack</a:t>
            </a:r>
            <a:endParaRPr lang="en-GB" sz="18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Product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Mobily Transformation Hub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Output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 pack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TR-0001 — Synthetic P2 transformation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Subject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G1 — TR-0001 G1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Period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As of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2026-10-24 20:12 (Asia/Riyadh)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Snapshot ID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01a16ee6-b9c5-719e-ba12-5c994b3798a9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Issue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Draft — not an issued report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Methodology version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playbook v1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of the sources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3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1 of 8</a:t>
            </a:r>
            <a:endParaRPr lang="en-GB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</a:t>
            </a:r>
            <a:endParaRPr lang="en-GB" sz="18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Phase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 status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Approval state (recorded, not an approval)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Pending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Approver role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Executive Sponsor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no.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2026-10-24T17:12:56.962Z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Submitted by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 u.247633dae6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note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2 of 8</a:t>
            </a:r>
            <a:endParaRPr lang="en-GB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Gate (continued)</a:t>
            </a:r>
            <a:endParaRPr lang="en-GB" sz="1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Label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Due date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Submission snapshot SHA-256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652ef5b4a7b0f6ab240c78d1879d565ecdc5ea1d1511be1c4678a387cc4db256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Decision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Decided at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Decided by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Rationale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3 of 8</a:t>
            </a:r>
            <a:endParaRPr lang="en-GB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Criteria</a:t>
            </a:r>
            <a:endParaRPr lang="en-GB" sz="18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348905"/>
                <a:gridCol w="542741"/>
                <a:gridCol w="1163016"/>
                <a:gridCol w="1163016"/>
                <a:gridCol w="542741"/>
                <a:gridCol w="542741"/>
                <a:gridCol w="542741"/>
                <a:gridCol w="348905"/>
                <a:gridCol w="1163016"/>
                <a:gridCol w="348905"/>
                <a:gridCol w="542741"/>
                <a:gridCol w="11630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No.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(English)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(Arabic)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Unverified evidence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recommendation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finding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1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Diagnostic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Diagnostic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التشخيص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2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Baseline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Baseline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الخط الأساسي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3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Root causes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Root causes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الأسباب الجذرية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4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pools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Value pools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مجمّعات القيمة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5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Case for change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Case for change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مبررات التغيير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4 of 8</a:t>
            </a:r>
            <a:endParaRPr lang="en-GB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Criteria (continued)</a:t>
            </a:r>
            <a:endParaRPr lang="en-GB" sz="1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348905"/>
                <a:gridCol w="542741"/>
                <a:gridCol w="1163016"/>
                <a:gridCol w="1163016"/>
                <a:gridCol w="542741"/>
                <a:gridCol w="542741"/>
                <a:gridCol w="542741"/>
                <a:gridCol w="348905"/>
                <a:gridCol w="1163016"/>
                <a:gridCol w="348905"/>
                <a:gridCol w="542741"/>
                <a:gridCol w="1163016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No.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(English)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Criterion (Arabic)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Missing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Unverified evidence items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recommendation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finding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6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Initial charter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Initial charter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الميثاق الأولي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Mandatory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evidence not required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Complete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0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7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7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5 of 8</a:t>
            </a:r>
            <a:endParaRPr lang="en-GB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Evidence</a:t>
            </a:r>
            <a:endParaRPr lang="en-GB" sz="1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018995"/>
                <a:gridCol w="942198"/>
                <a:gridCol w="942198"/>
                <a:gridCol w="942198"/>
                <a:gridCol w="942198"/>
                <a:gridCol w="605699"/>
                <a:gridCol w="2018995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Gate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Kind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Supports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At submission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Review status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Content revision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b="1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SHA-256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1F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Synthetic diagnostic interview notes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Note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Baseline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 at submission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Verified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80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80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6 of 8</a:t>
            </a:r>
            <a:endParaRPr lang="en-GB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Validation labels</a:t>
            </a:r>
            <a:endParaRPr lang="en-GB" sz="1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868680"/>
          <a:ext cx="8412480" cy="914400"/>
        </p:xfrm>
        <a:graphic>
          <a:graphicData uri="http://schemas.openxmlformats.org/drawingml/2006/table">
            <a:tbl>
              <a:tblPr/>
              <a:tblGrid>
                <a:gridCol w="2474259"/>
                <a:gridCol w="5938221"/>
              </a:tblGrid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Validated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validated by its owner process.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Provisional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provisional: pending validation or approval; it is shown and counted.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Unknown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No value is available; the cell is empty and is never shown as 0.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Stale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is out of date; no current number is shown.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n/a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The value does not apply to this record.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GB" altLang="en-US" sz="950" dirty="0">
                          <a:solidFill>
                            <a:srgbClr val="1A1F36"/>
                          </a:solidFill>
                          <a:latin typeface="IBM Plex Sans" pitchFamily="34" charset="0"/>
                          <a:ea typeface="IBM Plex Sans" pitchFamily="34" charset="-122"/>
                          <a:cs typeface="IBM Plex Sans" pitchFamily="34" charset="-120"/>
                        </a:rPr>
                        <a:t>Totals marked as formulas are computed by the spreadsheet from the rows above; text never becomes a formula.</a:t>
                      </a:r>
                      <a:endParaRPr lang="en-GB" sz="950" dirty="0">
                        <a:latin typeface="IBM Plex Sans" charset="0"/>
                        <a:ea typeface="IBM Plex Sans" charset="0"/>
                        <a:cs typeface="IBM Plex Sans" charset="0"/>
                      </a:endParaRPr>
                    </a:p>
                  </a:txBody>
                  <a:tcPr marL="36576" marR="36576" marT="36576" marB="36576" anchor="t">
                    <a:lnL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E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5" name="Text 2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7 of 8</a:t>
            </a:r>
            <a:endParaRPr lang="en-GB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2860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1800" b="1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About this file</a:t>
            </a:r>
            <a:endParaRPr lang="en-GB" sz="1800" dirty="0"/>
          </a:p>
        </p:txBody>
      </p:sp>
      <p:sp>
        <p:nvSpPr>
          <p:cNvPr id="3" name="Text 1"/>
          <p:cNvSpPr/>
          <p:nvPr/>
        </p:nvSpPr>
        <p:spPr>
          <a:xfrm>
            <a:off x="365760" y="86868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Fonts: this presentation names IBM Plex Sans Arabic and IBM Plex Sans (SIL Open Font License 1.1) and does not embed them; a viewer without them shows a substitute font.</a:t>
            </a:r>
            <a:endParaRPr lang="en-GB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1369060"/>
            <a:ext cx="8412480" cy="4546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GB" altLang="en-US" sz="1100" dirty="0">
                <a:solidFill>
                  <a:srgbClr val="1A1F3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Practical synthesis inspired by PMI Organizational Transformation, Brightline Transformation Compass and PMI Benefits Realization Management; extended with a custom Target Operating Model toolkit.</a:t>
            </a:r>
            <a:endParaRPr lang="en-GB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Draft — not an issued report</a:t>
            </a:r>
            <a:endParaRPr lang="en-GB" sz="800" dirty="0"/>
          </a:p>
        </p:txBody>
      </p:sp>
      <p:sp>
        <p:nvSpPr>
          <p:cNvPr id="6" name="Text 4"/>
          <p:cNvSpPr/>
          <p:nvPr/>
        </p:nvSpPr>
        <p:spPr>
          <a:xfrm>
            <a:off x="4572000" y="47960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GB" altLang="en-US" sz="800" dirty="0">
                <a:solidFill>
                  <a:srgbClr val="5A6275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Slide 8 of 8</a:t>
            </a:r>
            <a:endParaRPr lang="en-GB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Mobily Transformation Hub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Gate pack — TR-0001</dc:title>
  <dc:subject>TR-0001 — Synthetic P2 transformation; snapshot 01a16ee6-b9c5-719e-ba12-5c994b3798a9</dc:subject>
  <dc:creator>Mobily Transformation Hub</dc:creator>
  <cp:lastModifiedBy>Mobily Transformation Hub</cp:lastModifiedBy>
  <cp:revision>1</cp:revision>
  <dcterms:created xsi:type="dcterms:W3CDTF">2026-10-24T17:13:16Z</dcterms:created>
  <dcterms:modified xsi:type="dcterms:W3CDTF">2026-10-24T17:13:16Z</dcterms:modified>
</cp:coreProperties>
</file>