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2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Mobily Transformation Hub</a:t>
            </a:r>
            <a:endParaRPr lang="en-GB" sz="12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Meeting pack</a:t>
            </a:r>
            <a:endParaRPr lang="en-GB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Product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Mobily Transformation Hub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Output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Meeting pack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TR-0002 — Synthetic P2 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Subject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2026-11-03 — Executive SteerCo 2026-11-03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Period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As of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2026-10-24 20:12 (Asia/Riyadh)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Snapshot ID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01a16ee6-bd43-7002-a17f-a11c1c0b1972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Issue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Draft — not an issued report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Methodology version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playbook v1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Approval state of the sources (recorded, not an approval)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 applicable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1 of 9</a:t>
            </a:r>
            <a:endParaRPr lang="en-GB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Meeting</a:t>
            </a:r>
            <a:endParaRPr lang="en-GB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Forum (English)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Executive SteerCo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Forum (Arabic)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اللجنة التوجيهية التنفيذية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Scheduled date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2026-11-03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Starts at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2026-11-03T06:00:00.000Z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Ends at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2026-11-03T07:00:00.000Z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Time zone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Asia/Riyadh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Location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Meeting status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Scheduled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Chair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Synthetic u.84c525747b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2 of 9</a:t>
            </a:r>
            <a:endParaRPr lang="en-GB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Meeting (continued)</a:t>
            </a:r>
            <a:endParaRPr lang="en-GB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Secretary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Quorum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Present (counting for quorum)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Cut-off date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2026-11-01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Held at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3 of 9</a:t>
            </a:r>
            <a:endParaRPr lang="en-GB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Agenda</a:t>
            </a:r>
            <a:endParaRPr lang="en-GB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364002"/>
                <a:gridCol w="566225"/>
                <a:gridCol w="1213338"/>
                <a:gridCol w="1213338"/>
                <a:gridCol w="1213338"/>
                <a:gridCol w="364002"/>
                <a:gridCol w="566225"/>
                <a:gridCol w="566225"/>
                <a:gridCol w="566225"/>
                <a:gridCol w="1213338"/>
                <a:gridCol w="56622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No.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Item type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Agenda item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Description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Presenter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Duration (minutes)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Late item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Item status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Outcome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Linked decision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Decision status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Executive ask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Synthetic: billing platform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Published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DEC-01 Synthetic: choose the billing platform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Executive ask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Synthetic: data-centre move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Draft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4 of 9</a:t>
            </a:r>
            <a:endParaRPr lang="en-GB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Executive asks</a:t>
            </a:r>
            <a:endParaRPr lang="en-GB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82509"/>
                <a:gridCol w="439458"/>
                <a:gridCol w="941696"/>
                <a:gridCol w="941696"/>
                <a:gridCol w="941696"/>
                <a:gridCol w="941696"/>
                <a:gridCol w="941696"/>
                <a:gridCol w="941696"/>
                <a:gridCol w="941696"/>
                <a:gridCol w="376678"/>
                <a:gridCol w="282509"/>
                <a:gridCol w="43945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No.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Source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Linked decision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Decision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Why now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Options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Recommendation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Impact of delay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Decision owner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Required by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Elements not stated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Decision status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Executive decision log (T16)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DEC-01 Synthetic: choose the billing platform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Synthetic: choose the billing platform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Synthetic: the vendor's offer expires this month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A. Migrate now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B. Wait for the next release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A. Migrate now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Synthetic: the discount is lost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Synthetic u.84c525747b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2026-11-08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Draft brief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Synthetic: choose the billing platform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Synthetic: the vendor's offer expires this month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Only one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Synthetic u.84c525747b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2026-11-08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5 of 9</a:t>
            </a:r>
            <a:endParaRPr lang="en-GB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Linked decisions</a:t>
            </a:r>
            <a:endParaRPr lang="en-GB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1425844"/>
                <a:gridCol w="1425844"/>
                <a:gridCol w="665394"/>
                <a:gridCol w="665394"/>
                <a:gridCol w="1425844"/>
                <a:gridCol w="570338"/>
                <a:gridCol w="1425844"/>
                <a:gridCol w="80797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Code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Decision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Type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Decision status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Decision owner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Due date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Outcome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Decided at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DEC-01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Synthetic: choose the billing platform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Executive decision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Synthetic u.84c525747b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2026-11-08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6 of 9</a:t>
            </a:r>
            <a:endParaRPr lang="en-GB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Actions</a:t>
            </a:r>
            <a:endParaRPr lang="en-GB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523744"/>
                <a:gridCol w="2523744"/>
                <a:gridCol w="1009498"/>
                <a:gridCol w="1177747"/>
                <a:gridCol w="1177747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Action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Owner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Due date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Status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Link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Synthetic: prepare the vendor comparison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Synthetic u.ac54ceb649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Assigned in the meeting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7 of 9</a:t>
            </a:r>
            <a:endParaRPr lang="en-GB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Validation labels</a:t>
            </a:r>
            <a:endParaRPr lang="en-GB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Validated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validated by its owner process.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provisional: pending validation or approval; it is shown and counted.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value is available; the cell is empty and is never shown as 0.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out of date; no current number is shown.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does not apply to this record.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Totals marked as formulas are computed by the spreadsheet from the rows above; text never becomes a formula.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8 of 9</a:t>
            </a:r>
            <a:endParaRPr lang="en-GB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About this file</a:t>
            </a:r>
            <a:endParaRPr lang="en-GB" sz="18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Fonts: this presentation names IBM Plex Sans Arabic and IBM Plex Sans (SIL Open Font License 1.1) and does not embed them; a viewer without them shows a substitute font.</a:t>
            </a:r>
            <a:endParaRPr lang="en-GB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136906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Practical synthesis inspired by PMI Organizational Transformation, Brightline Transformation Compass and PMI Benefits Realization Management; extended with a custom Target Operating Model toolkit.</a:t>
            </a:r>
            <a:endParaRPr lang="en-GB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4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9 of 9</a:t>
            </a:r>
            <a:endParaRPr lang="en-GB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Mobily Transformation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Meeting pack — TR-0002</dc:title>
  <dc:subject>TR-0002 — Synthetic P2 transformation; snapshot 01a16ee6-bd43-7002-a17f-a11c1c0b1972</dc:subject>
  <dc:creator>Mobily Transformation Hub</dc:creator>
  <cp:lastModifiedBy>Mobily Transformation Hub</cp:lastModifiedBy>
  <cp:revision>1</cp:revision>
  <dcterms:created xsi:type="dcterms:W3CDTF">2026-10-24T17:13:20Z</dcterms:created>
  <dcterms:modified xsi:type="dcterms:W3CDTF">2026-10-24T17:13:20Z</dcterms:modified>
</cp:coreProperties>
</file>